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5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8FED234D-41D8-478D-AE06-047C05BD643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Comments="0">
  <p:normalViewPr snapVertSplitter="1">
    <p:restoredLeft sz="12579"/>
    <p:restoredTop sz="9000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2" name="Google Shape;82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3" name="Google Shape;93;p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14" name="Google Shape;114;p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62" name="Google Shape;162;p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92" name="Google Shape;192;p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14" name="Google Shape;214;p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355600faa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29" name="Google Shape;229;g3d355600faa_2_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355600faa_2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58" name="Google Shape;258;g3d355600faa_2_1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355600faa_2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73" name="Google Shape;273;g3d355600faa_2_2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355600faa_2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88" name="Google Shape;288;g3d355600faa_2_4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cc7bb767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03" name="Google Shape;303;g3dcc7bb7679_0_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12" name="Google Shape;312;p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27" name="Google Shape;327;p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11.png"  /><Relationship Id="rId11" Type="http://schemas.openxmlformats.org/officeDocument/2006/relationships/image" Target="../media/image12.png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2.png"  /><Relationship Id="rId4" Type="http://schemas.openxmlformats.org/officeDocument/2006/relationships/image" Target="../media/image5.png"  /><Relationship Id="rId5" Type="http://schemas.openxmlformats.org/officeDocument/2006/relationships/image" Target="../media/image6.png"  /><Relationship Id="rId6" Type="http://schemas.openxmlformats.org/officeDocument/2006/relationships/image" Target="../media/image7.png"  /><Relationship Id="rId7" Type="http://schemas.openxmlformats.org/officeDocument/2006/relationships/image" Target="../media/image8.png"  /><Relationship Id="rId8" Type="http://schemas.openxmlformats.org/officeDocument/2006/relationships/image" Target="../media/image9.png"  /><Relationship Id="rId9" Type="http://schemas.openxmlformats.org/officeDocument/2006/relationships/image" Target="../media/image10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2.png"  /><Relationship Id="rId4" Type="http://schemas.openxmlformats.org/officeDocument/2006/relationships/image" Target="../media/image13.png"  /><Relationship Id="rId5" Type="http://schemas.openxmlformats.org/officeDocument/2006/relationships/image" Target="../media/image14.png"  /><Relationship Id="rId6" Type="http://schemas.openxmlformats.org/officeDocument/2006/relationships/image" Target="../media/image1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2.png"  /><Relationship Id="rId4" Type="http://schemas.openxmlformats.org/officeDocument/2006/relationships/image" Target="../media/image16.png"  /><Relationship Id="rId5" Type="http://schemas.openxmlformats.org/officeDocument/2006/relationships/image" Target="../media/image15.png"  /><Relationship Id="rId6" Type="http://schemas.openxmlformats.org/officeDocument/2006/relationships/image" Target="../media/image17.png"  /><Relationship Id="rId7" Type="http://schemas.openxmlformats.org/officeDocument/2006/relationships/image" Target="../media/image18.png"  /><Relationship Id="rId8" Type="http://schemas.openxmlformats.org/officeDocument/2006/relationships/image" Target="../media/image19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2.png"  /><Relationship Id="rId4" Type="http://schemas.openxmlformats.org/officeDocument/2006/relationships/image" Target="../media/image13.png"  /><Relationship Id="rId5" Type="http://schemas.openxmlformats.org/officeDocument/2006/relationships/image" Target="../media/image20.png"  /><Relationship Id="rId6" Type="http://schemas.openxmlformats.org/officeDocument/2006/relationships/image" Target="../media/image15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2.png"  /><Relationship Id="rId4" Type="http://schemas.openxmlformats.org/officeDocument/2006/relationships/image" Target="../media/image13.png"  /><Relationship Id="rId5" Type="http://schemas.openxmlformats.org/officeDocument/2006/relationships/image" Target="../media/image15.png"  /><Relationship Id="rId6" Type="http://schemas.openxmlformats.org/officeDocument/2006/relationships/image" Target="../media/image21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0.xml"  /><Relationship Id="rId3" Type="http://schemas.openxmlformats.org/officeDocument/2006/relationships/image" Target="../media/image2.png"  /><Relationship Id="rId4" Type="http://schemas.openxmlformats.org/officeDocument/2006/relationships/image" Target="../media/image13.png"  /><Relationship Id="rId5" Type="http://schemas.openxmlformats.org/officeDocument/2006/relationships/image" Target="../media/image22.png"  /><Relationship Id="rId6" Type="http://schemas.openxmlformats.org/officeDocument/2006/relationships/image" Target="../media/image15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2.png"  /><Relationship Id="rId4" Type="http://schemas.openxmlformats.org/officeDocument/2006/relationships/image" Target="../media/image13.png"  /><Relationship Id="rId5" Type="http://schemas.openxmlformats.org/officeDocument/2006/relationships/hyperlink" Target="http://drive.google.com/file/d/1Q8yVtw7GV2gWwuzXF0ePOssQ3YUiUi8z/view" TargetMode="External" /><Relationship Id="rId6" Type="http://schemas.openxmlformats.org/officeDocument/2006/relationships/image" Target="../media/image23.jpe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3.xml"  /><Relationship Id="rId3" Type="http://schemas.openxmlformats.org/officeDocument/2006/relationships/image" Target="../media/image2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315741" y="2261294"/>
            <a:ext cx="5560516" cy="2742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PROJECT FINAL REPORT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176728" y="2707034"/>
            <a:ext cx="5838542" cy="828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프로젝트 결과보고서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4314750" y="5888246"/>
            <a:ext cx="3562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315741" y="4158484"/>
            <a:ext cx="5560500" cy="674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완료 보고 및 종합 성과 평가</a:t>
            </a:r>
            <a:endParaRPr lang="en-US" sz="1800" b="0" i="0" u="none" strike="noStrike" cap="none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 sz="1500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통신사 고객이탈 예측 마케팅 챗봇</a:t>
            </a:r>
            <a:endParaRPr sz="2200">
              <a:solidFill>
                <a:srgbClr val="75757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315750" y="5479111"/>
            <a:ext cx="5560500" cy="8740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Team 4 - 이탈자</a:t>
            </a:r>
            <a:endParaRPr lang="en-US" sz="18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윤경찬 </a:t>
            </a:r>
            <a:r>
              <a:rPr lang="en-US" sz="1800">
                <a:solidFill>
                  <a:srgbClr val="4a7dba"/>
                </a:solidFill>
                <a:latin typeface="Noto Sans KR"/>
                <a:ea typeface="Noto Sans KR"/>
                <a:cs typeface="Noto Sans KR"/>
                <a:sym typeface="Noto Sans KR"/>
              </a:rPr>
              <a:t>김나영</a:t>
            </a:r>
            <a:r>
              <a:rPr lang="en-US" sz="18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박성준 </a:t>
            </a:r>
            <a:r>
              <a:rPr lang="en-US" sz="1800">
                <a:solidFill>
                  <a:srgbClr val="4a7dba"/>
                </a:solidFill>
                <a:latin typeface="Noto Sans KR"/>
                <a:ea typeface="Noto Sans KR"/>
                <a:cs typeface="Noto Sans KR"/>
                <a:sym typeface="Noto Sans KR"/>
              </a:rPr>
              <a:t>연승혁</a:t>
            </a:r>
            <a:r>
              <a:rPr lang="en-US" sz="18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오혜미 </a:t>
            </a:r>
            <a:r>
              <a:rPr lang="en-US" sz="1800">
                <a:solidFill>
                  <a:srgbClr val="4a7dba"/>
                </a:solidFill>
                <a:latin typeface="Noto Sans KR"/>
                <a:ea typeface="Noto Sans KR"/>
                <a:cs typeface="Noto Sans KR"/>
                <a:sym typeface="Noto Sans KR"/>
              </a:rPr>
              <a:t>조건희</a:t>
            </a:r>
            <a:r>
              <a:rPr lang="en-US" sz="18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최준희</a:t>
            </a:r>
            <a:endParaRPr sz="18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5715000" y="3960709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0" y="3634680"/>
            <a:ext cx="2857500" cy="20687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634675"/>
            <a:ext cx="2972575" cy="20687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535930" y="1154608"/>
            <a:ext cx="112014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rPr>
              <a:t>목차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2286000" y="2278558"/>
            <a:ext cx="7620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본 보고서는 프로젝트의 기획부터 완료까지의 전 과정과 팀원들의 기여도, 그리고 최종 성과에 대한 종합적인 자체 평가를 포함하고 있습니다.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3371850" y="3920430"/>
            <a:ext cx="236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1부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10350" y="3920430"/>
            <a:ext cx="236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2부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3371850" y="4320480"/>
            <a:ext cx="22479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1. 종합 프로젝트 개요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3371850" y="4594770"/>
            <a:ext cx="2247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2. 팀 구성 및 역할 (7인)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3371850" y="4869060"/>
            <a:ext cx="2247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3. 수행 절차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10350" y="4329900"/>
            <a:ext cx="2857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6. Web Search/리서치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610350" y="4604200"/>
            <a:ext cx="2857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7. OpenAI/에이전트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3371850" y="5143325"/>
            <a:ext cx="3164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lang="en-US" sz="135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데이터/EDA</a:t>
            </a:r>
            <a:endParaRPr sz="1350">
              <a:solidFill>
                <a:srgbClr val="475569"/>
              </a:solidFill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371850" y="5417600"/>
            <a:ext cx="3164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lang="en-US" sz="135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기획/ML</a:t>
            </a:r>
            <a:endParaRPr sz="1350">
              <a:solidFill>
                <a:srgbClr val="475569"/>
              </a:solidFill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610350" y="5152800"/>
            <a:ext cx="2857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9</a:t>
            </a: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종합 자체 평가 및 느낀점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610350" y="4878500"/>
            <a:ext cx="2857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8</a:t>
            </a: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lang="en-US" sz="135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Streamlit UI/front</a:t>
            </a:r>
            <a:endParaRPr sz="1350">
              <a:solidFill>
                <a:srgbClr val="475569"/>
              </a:solidFill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6610350" y="5427100"/>
            <a:ext cx="2857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10. Q&amp;A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97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01634"/>
            <a:ext cx="5429250" cy="263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1083663"/>
            <a:ext cx="5429250" cy="263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31000"/>
            <a:ext cx="5429250" cy="263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1250" y="3931000"/>
            <a:ext cx="5429250" cy="263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866775" y="1349289"/>
            <a:ext cx="508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4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 기획 의도 및 배경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486525" y="1331317"/>
            <a:ext cx="508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4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 프로젝트 장비(</a:t>
            </a:r>
            <a:r>
              <a:rPr lang="en-US" sz="150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기술 스택)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66775" y="4178647"/>
            <a:ext cx="508063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4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3. 프로젝트 구조 (Architecture)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486525" y="4178647"/>
            <a:ext cx="508063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4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4. 활용 방안 및 기대 효과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803" y="1359892"/>
            <a:ext cx="14823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1038225" y="1749339"/>
            <a:ext cx="4667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주제: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이탈 위험 고객을 예측하고 챗봇이 선제 이탈 방지 대책을 관리자에게 제안해 이탈율을 줄이는 시스템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038225" y="2412220"/>
            <a:ext cx="4667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배경: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통신사의 매출 안정화를 위해 고객 이탈 가능성을 사전에 파악하고 선제적으로 고객의 이탈을 방지하는 대책 필요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038225" y="3075100"/>
            <a:ext cx="4667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의도: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직관적인 UI/UX 제공으로 가시성을 높이고 불필요한 </a:t>
            </a: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이탈 방지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비용 최소화</a:t>
            </a:r>
            <a:endParaRPr/>
          </a:p>
        </p:txBody>
      </p:sp>
      <p:pic>
        <p:nvPicPr>
          <p:cNvPr descr="image.png" id="129" name="Google Shape;12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86525" y="1359892"/>
            <a:ext cx="14823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6657975" y="1731367"/>
            <a:ext cx="4667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분석 :</a:t>
            </a:r>
            <a:r>
              <a:rPr lang="en-US" sz="1350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 Pandas, NumPy</a:t>
            </a:r>
            <a:endParaRPr>
              <a:solidFill>
                <a:srgbClr val="757575"/>
              </a:solidFill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6657975" y="2787539"/>
            <a:ext cx="466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757575"/>
                </a:solidFill>
              </a:rPr>
              <a:t>백엔드 :</a:t>
            </a:r>
            <a:r>
              <a:rPr lang="en-US">
                <a:solidFill>
                  <a:srgbClr val="757575"/>
                </a:solidFill>
              </a:rPr>
              <a:t> FastAPI   </a:t>
            </a:r>
            <a:r>
              <a:rPr b="1" lang="en-US">
                <a:solidFill>
                  <a:srgbClr val="757575"/>
                </a:solidFill>
              </a:rPr>
              <a:t>프론트 : </a:t>
            </a:r>
            <a:r>
              <a:rPr lang="en-US">
                <a:solidFill>
                  <a:srgbClr val="757575"/>
                </a:solidFill>
              </a:rPr>
              <a:t>Streamlit</a:t>
            </a:r>
            <a:endParaRPr>
              <a:solidFill>
                <a:srgbClr val="757575"/>
              </a:solidFill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6657975" y="2062801"/>
            <a:ext cx="4667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머신 러닝 </a:t>
            </a:r>
            <a:r>
              <a:rPr lang="en-US" sz="1350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: RandomForestClassifier, GrandientBoostingClassifier, XGBClassifier </a:t>
            </a:r>
            <a:endParaRPr>
              <a:solidFill>
                <a:srgbClr val="757575"/>
              </a:solidFill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6657975" y="3171428"/>
            <a:ext cx="4667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AI 에이전트 :</a:t>
            </a:r>
            <a:r>
              <a:rPr lang="en-US" sz="1350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 OpenAPI, FunctionCalling</a:t>
            </a:r>
            <a:endParaRPr>
              <a:solidFill>
                <a:srgbClr val="757575"/>
              </a:solidFill>
            </a:endParaRPr>
          </a:p>
        </p:txBody>
      </p:sp>
      <p:pic>
        <p:nvPicPr>
          <p:cNvPr descr="image.png" id="134" name="Google Shape;13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4207222"/>
            <a:ext cx="14823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1038225" y="4612850"/>
            <a:ext cx="515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&gt; EDA &gt; ML 학습 &gt;</a:t>
            </a: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Web Search</a:t>
            </a: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&gt; API &gt; AI 에이전트  &gt; UI</a:t>
            </a:r>
            <a:endParaRPr>
              <a:solidFill>
                <a:srgbClr val="475569"/>
              </a:solidFill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1038225" y="4997765"/>
            <a:ext cx="46674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75569"/>
                </a:solidFill>
              </a:rPr>
              <a:t>데이터 수집 및 전처리 과정, ML 모델 학습, Web Search (외부 트렌드 반영), OpenAI 기반 메인 에이전트 생성, UI 연동</a:t>
            </a:r>
            <a:endParaRPr sz="1300">
              <a:solidFill>
                <a:srgbClr val="475569"/>
              </a:solidFill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1038225" y="5630167"/>
            <a:ext cx="466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1038225" y="6018758"/>
            <a:ext cx="466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139" name="Google Shape;139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86525" y="4207222"/>
            <a:ext cx="14823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6657975" y="4578697"/>
            <a:ext cx="4667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활용 방안: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통신사 관리자에게 마케팅 인사이트 제공 및 비즈니스 전략 도출 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6657975" y="5241577"/>
            <a:ext cx="4667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기대 효과: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고객군에 따른 적절한 마케팅 전략 수행, 고객 이탈 사전 예방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657975" y="5904458"/>
            <a:ext cx="4667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확장성: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구축된 API를 활용한 </a:t>
            </a: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고위험 고객 실시간 알람 및 선제 대응 챗봇으로 확장 가능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866775" y="2052786"/>
            <a:ext cx="5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866775" y="2428119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6486525" y="1987671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6486525" y="3471752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6486525" y="2764867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6486525" y="3153457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866775" y="457869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875400" y="4997808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6486525" y="457869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6486525" y="524157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6486525" y="5904458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754602" y="318812"/>
            <a:ext cx="1145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1. 프로젝트 개요 (종합)</a:t>
            </a: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571500" y="283079"/>
            <a:ext cx="57300" cy="4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875401" y="1755894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857430" y="3065755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 rot="-20025">
            <a:off x="6483382" y="1708609"/>
            <a:ext cx="154503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6657975" y="3486841"/>
            <a:ext cx="4667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외부 정보 </a:t>
            </a:r>
            <a:r>
              <a:rPr lang="en-US" sz="1350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: Web Search </a:t>
            </a:r>
            <a:endParaRPr>
              <a:solidFill>
                <a:srgbClr val="75757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/>
          <p:nvPr/>
        </p:nvSpPr>
        <p:spPr>
          <a:xfrm>
            <a:off x="571500" y="1485900"/>
            <a:ext cx="11049000" cy="4699396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6" name="Google Shape;166;p16"/>
          <p:cNvGraphicFramePr/>
          <p:nvPr/>
        </p:nvGraphicFramePr>
        <p:xfrm>
          <a:off x="571500" y="14835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{8FED234D-41D8-478D-AE06-047C05BD6436}</a:tableStyleId>
              </a:tblPr>
              <a:tblGrid>
                <a:gridCol w="1657350"/>
                <a:gridCol w="2762250"/>
                <a:gridCol w="6629400"/>
              </a:tblGrid>
              <a:tr h="587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담당 역할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주도적 참여 부분 및 기여도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87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윤경찬(팀장)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Open AI/에이전트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OpenAI 기반 에이전트 설계 및 커스텀 툴 연동 구현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김나영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기획</a:t>
                      </a:r>
                      <a:r>
                        <a:rPr lang="en-US" sz="1350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/ ML 모델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시스템 기획, ML 모델 선정</a:t>
                      </a:r>
                      <a:r>
                        <a:rPr lang="en-US" sz="1350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·학습, 모듈 통합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87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박성준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Streamlit UI / front 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사용자 인터페이스 설계 및 시각화 기능 구현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연승혁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Streamlit UI / front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사용자 인터페이스 설계 및 시각화 기능 구현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87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오혜미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web search / 리서치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75569"/>
                          </a:solidFill>
                        </a:rPr>
                        <a:t>통신 산업 트랜드 분석 및 </a:t>
                      </a:r>
                      <a:r>
                        <a:rPr lang="en-US">
                          <a:solidFill>
                            <a:srgbClr val="475569"/>
                          </a:solidFill>
                        </a:rPr>
                        <a:t>Web Search </a:t>
                      </a:r>
                      <a:r>
                        <a:rPr lang="en-US">
                          <a:solidFill>
                            <a:srgbClr val="475569"/>
                          </a:solidFill>
                        </a:rPr>
                        <a:t>기능 구현</a:t>
                      </a:r>
                      <a:endParaRPr>
                        <a:solidFill>
                          <a:srgbClr val="475569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조건희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ML 모델 / </a:t>
                      </a:r>
                      <a:r>
                        <a:rPr lang="en-US" sz="1350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AI </a:t>
                      </a:r>
                      <a:r>
                        <a:rPr lang="en-US" sz="1350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Agent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75569"/>
                          </a:solidFill>
                        </a:rPr>
                        <a:t>ML 모델 학습, 연동 및 에이전트 기능 통합 구현</a:t>
                      </a:r>
                      <a:endParaRPr>
                        <a:solidFill>
                          <a:srgbClr val="475569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92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최준희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 / EDA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75569"/>
                          </a:solidFill>
                        </a:rPr>
                        <a:t>데이터 전처리 및 탐색적 데이터 분석(EDA) 수행</a:t>
                      </a:r>
                      <a:endParaRPr>
                        <a:solidFill>
                          <a:srgbClr val="475569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7" name="Google Shape;167;p16"/>
          <p:cNvSpPr/>
          <p:nvPr/>
        </p:nvSpPr>
        <p:spPr>
          <a:xfrm>
            <a:off x="571500" y="2060227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2228850" y="2060227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4991100" y="2060227"/>
            <a:ext cx="662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571500" y="2648842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2228850" y="2648842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4991100" y="2648842"/>
            <a:ext cx="662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571500" y="3237458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2228850" y="3237458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4991100" y="3237458"/>
            <a:ext cx="662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571500" y="3826073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2228850" y="3826073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4991100" y="3826073"/>
            <a:ext cx="662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571500" y="4414688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2228850" y="4414688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4991100" y="4414688"/>
            <a:ext cx="662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571500" y="5003303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2228850" y="5003303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4991100" y="5003303"/>
            <a:ext cx="662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571500" y="5591919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2228850" y="5591919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4991100" y="5591919"/>
            <a:ext cx="662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714375" y="476250"/>
            <a:ext cx="1145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2. 프로젝트 팀 구성 및 역할(</a:t>
            </a:r>
            <a:r>
              <a:rPr b="1" lang="en-US" sz="31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이탈자)</a:t>
            </a: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/>
          </a:p>
        </p:txBody>
      </p:sp>
      <p:sp>
        <p:nvSpPr>
          <p:cNvPr id="189" name="Google Shape;189;p16"/>
          <p:cNvSpPr/>
          <p:nvPr/>
        </p:nvSpPr>
        <p:spPr>
          <a:xfrm>
            <a:off x="571500" y="476250"/>
            <a:ext cx="57150" cy="47997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7"/>
          <p:cNvSpPr/>
          <p:nvPr/>
        </p:nvSpPr>
        <p:spPr>
          <a:xfrm>
            <a:off x="571500" y="3475086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510733" y="3761914"/>
            <a:ext cx="255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rPr>
              <a:t>1. 사전 기획 (</a:t>
            </a:r>
            <a:r>
              <a:rPr b="1" lang="en-US" sz="1800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rPr>
              <a:t>03/25</a:t>
            </a:r>
            <a:r>
              <a:rPr b="1" i="0" lang="en-US" sz="1800" u="none" cap="none" strike="noStrike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b="1" lang="en-US" sz="1800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rPr>
              <a:t>03/26</a:t>
            </a:r>
            <a:r>
              <a:rPr b="1" i="0" lang="en-US" sz="1800" u="none" cap="none" strike="noStrike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b="1" sz="1700"/>
          </a:p>
        </p:txBody>
      </p:sp>
      <p:sp>
        <p:nvSpPr>
          <p:cNvPr id="197" name="Google Shape;197;p17"/>
          <p:cNvSpPr txBox="1"/>
          <p:nvPr/>
        </p:nvSpPr>
        <p:spPr>
          <a:xfrm>
            <a:off x="571500" y="4377624"/>
            <a:ext cx="2430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 브레인스토밍</a:t>
            </a:r>
            <a:b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요구사항 정의서 작성</a:t>
            </a:r>
            <a:b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WBS 및 일정 수립</a:t>
            </a:r>
            <a:endParaRPr sz="1300"/>
          </a:p>
        </p:txBody>
      </p:sp>
      <p:sp>
        <p:nvSpPr>
          <p:cNvPr id="198" name="Google Shape;198;p17"/>
          <p:cNvSpPr txBox="1"/>
          <p:nvPr/>
        </p:nvSpPr>
        <p:spPr>
          <a:xfrm>
            <a:off x="2657072" y="1593425"/>
            <a:ext cx="411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rPr>
              <a:t>2. 시스템 설계 (03/</a:t>
            </a:r>
            <a:r>
              <a:rPr b="1" lang="en-US" sz="1800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rPr>
              <a:t>26-03/27</a:t>
            </a:r>
            <a:r>
              <a:rPr b="1" i="0" lang="en-US" sz="1800" u="none" cap="none" strike="noStrike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b="1" sz="1700"/>
          </a:p>
        </p:txBody>
      </p:sp>
      <p:sp>
        <p:nvSpPr>
          <p:cNvPr id="199" name="Google Shape;199;p17"/>
          <p:cNvSpPr txBox="1"/>
          <p:nvPr/>
        </p:nvSpPr>
        <p:spPr>
          <a:xfrm>
            <a:off x="3444180" y="2006115"/>
            <a:ext cx="2430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전처리 / 상관관계 분석</a:t>
            </a:r>
            <a:endParaRPr sz="13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ML 선정 및 학습, 평가</a:t>
            </a:r>
            <a:endParaRPr sz="13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ML 활용 함수 설계</a:t>
            </a:r>
            <a:endParaRPr sz="13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tool 구조 설계</a:t>
            </a:r>
            <a:endParaRPr sz="13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AI 에이전트 구축</a:t>
            </a:r>
            <a:b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UI/UX 와이어프레임 설계</a:t>
            </a:r>
            <a:endParaRPr sz="1300"/>
          </a:p>
        </p:txBody>
      </p:sp>
      <p:sp>
        <p:nvSpPr>
          <p:cNvPr id="200" name="Google Shape;200;p17"/>
          <p:cNvSpPr txBox="1"/>
          <p:nvPr/>
        </p:nvSpPr>
        <p:spPr>
          <a:xfrm>
            <a:off x="6256094" y="3690027"/>
            <a:ext cx="255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rPr>
              <a:t>3. 개발 수행 (</a:t>
            </a:r>
            <a:r>
              <a:rPr b="1" lang="en-US" sz="1800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rPr>
              <a:t>03/27</a:t>
            </a:r>
            <a:r>
              <a:rPr b="1" i="0" lang="en-US" sz="1800" u="none" cap="none" strike="noStrike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b="1" sz="1700"/>
          </a:p>
        </p:txBody>
      </p:sp>
      <p:sp>
        <p:nvSpPr>
          <p:cNvPr id="201" name="Google Shape;201;p17"/>
          <p:cNvSpPr txBox="1"/>
          <p:nvPr/>
        </p:nvSpPr>
        <p:spPr>
          <a:xfrm>
            <a:off x="5388719" y="4034569"/>
            <a:ext cx="57150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&lt;</a:t>
            </a:r>
            <a:r>
              <a:rPr b="1" lang="en-US" sz="13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Data layer&gt;</a:t>
            </a:r>
            <a:endParaRPr b="1" sz="13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11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Noto Sans KR"/>
              <a:buChar char="●"/>
            </a:pPr>
            <a:r>
              <a:rPr lang="en-US" sz="13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특성공학/EDA를 통한 모델 학습용 데이터셋 구성</a:t>
            </a:r>
            <a:endParaRPr sz="13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&lt; ML Layer&gt;</a:t>
            </a:r>
            <a:endParaRPr b="1" sz="13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11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Noto Sans KR"/>
              <a:buChar char="●"/>
            </a:pPr>
            <a:r>
              <a:rPr lang="en-US" sz="13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ML 모델 확정 및 성능 평가, threshold 튜닝/ agent 연동</a:t>
            </a:r>
            <a:endParaRPr sz="13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&lt;Search Layer&gt;</a:t>
            </a:r>
            <a:endParaRPr b="1" sz="13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11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Noto Sans KR"/>
              <a:buChar char="●"/>
            </a:pPr>
            <a:r>
              <a:rPr lang="en-US" sz="13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데이터 정보 조회 및 web search를 통한 외부 트렌드 반영</a:t>
            </a:r>
            <a:endParaRPr sz="13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&lt; Agent Layer&gt;</a:t>
            </a:r>
            <a:endParaRPr b="1" sz="13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11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Noto Sans KR"/>
              <a:buChar char="●"/>
            </a:pPr>
            <a:r>
              <a:rPr lang="en-US" sz="13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Open AI 기반 메인 에이전트가 질문 의도 파악 후 필요한 </a:t>
            </a:r>
            <a:endParaRPr sz="13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커스텀 툴 호출, 결과 통합</a:t>
            </a:r>
            <a:endParaRPr sz="13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en-US" sz="13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&lt;UI Layer&gt;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Noto Sans KR"/>
              <a:buChar char="●"/>
            </a:pPr>
            <a:r>
              <a:rPr lang="en-US" sz="13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시뮬레이션 입력 슬라이더, 차트 및 결과 리포트 시각화</a:t>
            </a:r>
            <a:endParaRPr sz="13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8750859" y="2044378"/>
            <a:ext cx="335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rPr>
              <a:t>4. 테스트 및 완료 (0</a:t>
            </a:r>
            <a:r>
              <a:rPr b="1" lang="en-US" sz="1800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rPr>
              <a:t>3/30-03/31</a:t>
            </a:r>
            <a:r>
              <a:rPr b="1" i="0" lang="en-US" sz="1800" u="none" cap="none" strike="noStrike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b="1" sz="1700"/>
          </a:p>
        </p:txBody>
      </p:sp>
      <p:sp>
        <p:nvSpPr>
          <p:cNvPr id="203" name="Google Shape;203;p17"/>
          <p:cNvSpPr txBox="1"/>
          <p:nvPr/>
        </p:nvSpPr>
        <p:spPr>
          <a:xfrm>
            <a:off x="9189541" y="2750276"/>
            <a:ext cx="243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통합 테스팅 및 버그 픽스</a:t>
            </a:r>
            <a:b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최종 산출물 문서화</a:t>
            </a:r>
            <a:endParaRPr sz="1300"/>
          </a:p>
        </p:txBody>
      </p:sp>
      <p:sp>
        <p:nvSpPr>
          <p:cNvPr id="204" name="Google Shape;204;p17"/>
          <p:cNvSpPr txBox="1"/>
          <p:nvPr/>
        </p:nvSpPr>
        <p:spPr>
          <a:xfrm>
            <a:off x="714375" y="476250"/>
            <a:ext cx="1145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3. 프로젝트 수행 절차 (</a:t>
            </a:r>
            <a:r>
              <a:rPr b="1" lang="en-US" sz="31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03/25-03/31</a:t>
            </a: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/>
          </a:p>
        </p:txBody>
      </p:sp>
      <p:sp>
        <p:nvSpPr>
          <p:cNvPr id="205" name="Google Shape;205;p17"/>
          <p:cNvSpPr/>
          <p:nvPr/>
        </p:nvSpPr>
        <p:spPr>
          <a:xfrm>
            <a:off x="571500" y="476250"/>
            <a:ext cx="57150" cy="47997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1672530" y="337991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4545210" y="337991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7417891" y="337991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10290571" y="337991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 txBox="1"/>
          <p:nvPr/>
        </p:nvSpPr>
        <p:spPr>
          <a:xfrm>
            <a:off x="510725" y="5063424"/>
            <a:ext cx="243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Noto Sans KR"/>
              <a:buAutoNum type="arabicParenR"/>
            </a:pPr>
            <a:r>
              <a:rPr lang="en-US" sz="13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Telcom Customer Churn 데이터 셋 활용한 통신사 고객 이탈 예측 마케팅 챗봇</a:t>
            </a:r>
            <a:endParaRPr sz="13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1" name="Google Shape;211;p17"/>
          <p:cNvSpPr txBox="1"/>
          <p:nvPr/>
        </p:nvSpPr>
        <p:spPr>
          <a:xfrm>
            <a:off x="248314" y="5842375"/>
            <a:ext cx="3112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2)</a:t>
            </a:r>
            <a:r>
              <a:rPr lang="en-US" sz="13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    대시보드를 통한 현황 시각화</a:t>
            </a:r>
            <a:endParaRPr sz="13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레이더/ 막대 차트 기반 강약점 제공</a:t>
            </a:r>
            <a:endParaRPr sz="13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슬라이더 조작 시 실시간 예상</a:t>
            </a:r>
            <a:endParaRPr sz="13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에이전트의 종합 컨설팅</a:t>
            </a:r>
            <a:endParaRPr sz="13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30598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 txBox="1"/>
          <p:nvPr/>
        </p:nvSpPr>
        <p:spPr>
          <a:xfrm>
            <a:off x="857250" y="1930598"/>
            <a:ext cx="5000700" cy="24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전처리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endParaRPr b="1" i="0" sz="1350" u="none" cap="none" strike="noStrike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1. 결측치 처리</a:t>
            </a:r>
            <a:endParaRPr sz="135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TotalCharges 컬럼은 문자열 형태로 저장되어 있어 숫자형으로 변환</a:t>
            </a:r>
            <a:endParaRPr sz="135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변환 과정에서 발생한 결측값(NaN)은 제거하여 데이터 일관성 확보</a:t>
            </a:r>
            <a:endParaRPr sz="135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2. 이상치 처리</a:t>
            </a:r>
            <a:endParaRPr sz="135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tenure, MonthlyCharges, TotalCharges 등의 주요 수치형 변수에 대해 IQR(사분위 범위) 기반 이상치 제거 수행</a:t>
            </a:r>
            <a:endParaRPr sz="135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- 극단값 제거를 통해 모델 학습 안정성 확보</a:t>
            </a:r>
            <a:endParaRPr sz="135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857250" y="5218694"/>
            <a:ext cx="50007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Feature 선택 전략 :</a:t>
            </a:r>
            <a:endParaRPr b="1" sz="135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EDA 및 상관관계 분석을 기반으로 고객 이탈에 영향을 미치는 주요 요인들을 선별하여 모델 학습에 사용함.</a:t>
            </a:r>
            <a:endParaRPr sz="135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857250" y="4231630"/>
            <a:ext cx="5000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Feature Engineering :</a:t>
            </a:r>
            <a:endParaRPr b="1" sz="135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부가 서비스 관여도 및 가입 기간 범주화 Feature 생성</a:t>
            </a:r>
            <a:endParaRPr sz="135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21" name="Google Shape;221;p18" title="이탈자 상관관계 분석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4125" y="1949651"/>
            <a:ext cx="5594825" cy="346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8"/>
          <p:cNvSpPr txBox="1"/>
          <p:nvPr/>
        </p:nvSpPr>
        <p:spPr>
          <a:xfrm>
            <a:off x="714375" y="476250"/>
            <a:ext cx="1145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4-1. 프로젝트 수행 경과 (</a:t>
            </a:r>
            <a:r>
              <a:rPr b="1" lang="en-US" sz="31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데이터/EDA</a:t>
            </a: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571500" y="476250"/>
            <a:ext cx="57150" cy="47997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4" name="Google Shape;22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49648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218694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50680"/>
            <a:ext cx="133498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9"/>
          <p:cNvPicPr preferRelativeResize="0"/>
          <p:nvPr/>
        </p:nvPicPr>
        <p:blipFill rotWithShape="1">
          <a:blip r:embed="rId4">
            <a:alphaModFix/>
          </a:blip>
          <a:srcRect b="24767" l="0" r="0" t="0"/>
          <a:stretch/>
        </p:blipFill>
        <p:spPr>
          <a:xfrm>
            <a:off x="5765975" y="2833100"/>
            <a:ext cx="4478250" cy="22042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3" name="Google Shape;233;p19"/>
          <p:cNvSpPr txBox="1"/>
          <p:nvPr/>
        </p:nvSpPr>
        <p:spPr>
          <a:xfrm>
            <a:off x="857250" y="1294525"/>
            <a:ext cx="11308500" cy="1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모델 선정 과정</a:t>
            </a:r>
            <a:endParaRPr b="1" sz="145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R</a:t>
            </a: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andomForest, XGBoost, GradienBoost 모델의 성능을 비교. </a:t>
            </a:r>
            <a:endParaRPr sz="135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→ 주요 피처 기반 데이터셋으로 평가한 결과, </a:t>
            </a:r>
            <a:r>
              <a:rPr lang="en-US" sz="1350">
                <a:solidFill>
                  <a:schemeClr val="accent2"/>
                </a:solidFill>
                <a:latin typeface="Noto Sans KR"/>
                <a:ea typeface="Noto Sans KR"/>
                <a:cs typeface="Noto Sans KR"/>
                <a:sym typeface="Noto Sans KR"/>
              </a:rPr>
              <a:t>클래스 불균형에 비교적 강하고</a:t>
            </a: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350">
                <a:solidFill>
                  <a:schemeClr val="accent3"/>
                </a:solidFill>
                <a:latin typeface="Noto Sans KR"/>
                <a:ea typeface="Noto Sans KR"/>
                <a:cs typeface="Noto Sans KR"/>
                <a:sym typeface="Noto Sans KR"/>
              </a:rPr>
              <a:t>검증 성능이 안정적이었으며</a:t>
            </a: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35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→ 고객별 이탈 확률을 점수화하여 고위험 고객을 선별하는 본 프로젝트의 목적에 맞게 활용하기 적합한</a:t>
            </a:r>
            <a:r>
              <a:rPr b="1" lang="en-US" sz="13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XGBoost</a:t>
            </a: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를 최종 모델로 선정.</a:t>
            </a:r>
            <a:endParaRPr sz="135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714375" y="476250"/>
            <a:ext cx="1145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4-2. 프로젝트 수행 경과 (</a:t>
            </a:r>
            <a:r>
              <a:rPr b="1" lang="en-US" sz="31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기획/ML 모델</a:t>
            </a: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/>
          </a:p>
        </p:txBody>
      </p:sp>
      <p:sp>
        <p:nvSpPr>
          <p:cNvPr id="235" name="Google Shape;235;p19"/>
          <p:cNvSpPr/>
          <p:nvPr/>
        </p:nvSpPr>
        <p:spPr>
          <a:xfrm>
            <a:off x="571500" y="476250"/>
            <a:ext cx="57300" cy="4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6" name="Google Shape;23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294519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77979" y="2833089"/>
            <a:ext cx="13349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9"/>
          <p:cNvSpPr txBox="1"/>
          <p:nvPr/>
        </p:nvSpPr>
        <p:spPr>
          <a:xfrm>
            <a:off x="857250" y="5855242"/>
            <a:ext cx="78900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XGBoost Classifier : k-폴드 교차 검증으로 하이퍼파라미터 튜닝 &amp; threshold 탐색 후, 최종 성능</a:t>
            </a:r>
            <a:endParaRPr b="1" sz="145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Accuracy 0.74 / Precision 0.51 / Recall 0.77 / F1-score 0.61</a:t>
            </a:r>
            <a:endParaRPr sz="135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image.png" id="239" name="Google Shape;23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07641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9"/>
          <p:cNvPicPr preferRelativeResize="0"/>
          <p:nvPr/>
        </p:nvPicPr>
        <p:blipFill rotWithShape="1">
          <a:blip r:embed="rId6">
            <a:alphaModFix/>
          </a:blip>
          <a:srcRect b="0" l="1763" r="2415" t="0"/>
          <a:stretch/>
        </p:blipFill>
        <p:spPr>
          <a:xfrm>
            <a:off x="905549" y="2833100"/>
            <a:ext cx="4155510" cy="22042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.png" id="241" name="Google Shape;24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941960"/>
            <a:ext cx="13349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9"/>
          <p:cNvSpPr/>
          <p:nvPr/>
        </p:nvSpPr>
        <p:spPr>
          <a:xfrm>
            <a:off x="789125" y="3046225"/>
            <a:ext cx="2494200" cy="3738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5735300" y="3022700"/>
            <a:ext cx="2494200" cy="3738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2129689" y="4736183"/>
            <a:ext cx="2494200" cy="2664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7162918" y="4715099"/>
            <a:ext cx="2445000" cy="2664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 txBox="1"/>
          <p:nvPr/>
        </p:nvSpPr>
        <p:spPr>
          <a:xfrm>
            <a:off x="2129700" y="2505220"/>
            <a:ext cx="15921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RandomForest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7262703" y="2515465"/>
            <a:ext cx="1592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-1114200" y="2505225"/>
            <a:ext cx="197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05547" y="5037385"/>
            <a:ext cx="2556000" cy="54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0" name="Google Shape;250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65967" y="5062113"/>
            <a:ext cx="2768451" cy="54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1" name="Google Shape;251;p19"/>
          <p:cNvSpPr/>
          <p:nvPr/>
        </p:nvSpPr>
        <p:spPr>
          <a:xfrm>
            <a:off x="2004250" y="5220750"/>
            <a:ext cx="1457400" cy="3738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1634668" y="2770505"/>
            <a:ext cx="13047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(기본 t = 0.5 에서)</a:t>
            </a:r>
            <a:endParaRPr sz="10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6878962" y="5253076"/>
            <a:ext cx="1592100" cy="3738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 txBox="1"/>
          <p:nvPr/>
        </p:nvSpPr>
        <p:spPr>
          <a:xfrm>
            <a:off x="6613235" y="2760007"/>
            <a:ext cx="13047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(기본 t = 0.5 에서)</a:t>
            </a:r>
            <a:endParaRPr sz="10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8899500" y="5520300"/>
            <a:ext cx="3348900" cy="13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Noto Sans KR"/>
              <a:buChar char="+"/>
            </a:pPr>
            <a:r>
              <a:rPr lang="en-US" sz="10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GradientBoost 모델의 경우,</a:t>
            </a:r>
            <a:br>
              <a:rPr lang="en-US" sz="10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0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recall에서  XGB 보다 조금 높은 성능(0.77)을 보였으나 모델 전반의 정확도, 그리고 시스템에 활용될 모델을 선택해야한다는 측면에서</a:t>
            </a:r>
            <a:br>
              <a:rPr lang="en-US" sz="10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0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과적합 우려 없이 일반화 능력을 갖춘 모델은 XGBoost라 판단하였다. (모델 보고서 참고)</a:t>
            </a:r>
            <a:endParaRPr sz="105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49673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 txBox="1"/>
          <p:nvPr/>
        </p:nvSpPr>
        <p:spPr>
          <a:xfrm>
            <a:off x="857250" y="1930598"/>
            <a:ext cx="50007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변수 설정</a:t>
            </a:r>
            <a:r>
              <a:rPr b="1" i="0" lang="en-US" sz="13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b="0" i="0" sz="1350" u="none" cap="none" strike="noStrike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공신력 있는 사이트 한정으로 변수를 설정하여 웹 서칭 시 지정 사이트 안에서 정보를 추출하도록 처리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857250" y="3048353"/>
            <a:ext cx="50007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프롬프팅을 통한 출력 규칙 설정</a:t>
            </a:r>
            <a:r>
              <a:rPr b="1" i="0" lang="en-US" sz="13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:</a:t>
            </a:r>
            <a:r>
              <a:rPr b="1" i="0" lang="en-US" sz="13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b="1" i="0" sz="1350" u="none" cap="none" strike="noStrike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통신 산업 관련 동향 출력 설정</a:t>
            </a:r>
            <a:endParaRPr sz="135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한 줄 당 하나의 핵심 내용으로 구성하여 출력하도록 설정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857250" y="4231630"/>
            <a:ext cx="5000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후반부 (최종 완성도 향상):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b="0" i="0" sz="1350" u="none" cap="none" strike="noStrike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UI / UX 적용을 위해 summary와 url 출력 분리</a:t>
            </a:r>
            <a:endParaRPr/>
          </a:p>
        </p:txBody>
      </p:sp>
      <p:pic>
        <p:nvPicPr>
          <p:cNvPr id="265" name="Google Shape;265;p20" title="화면 캡처 2026-03-30 16123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5358" y="1930600"/>
            <a:ext cx="5753649" cy="320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0"/>
          <p:cNvSpPr txBox="1"/>
          <p:nvPr/>
        </p:nvSpPr>
        <p:spPr>
          <a:xfrm>
            <a:off x="714375" y="476250"/>
            <a:ext cx="1145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4-3. 프로젝트 수행 경과 (</a:t>
            </a:r>
            <a:r>
              <a:rPr b="1" lang="en-US" sz="31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web search/리서치</a:t>
            </a: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/>
          </a:p>
        </p:txBody>
      </p:sp>
      <p:sp>
        <p:nvSpPr>
          <p:cNvPr id="267" name="Google Shape;267;p20"/>
          <p:cNvSpPr/>
          <p:nvPr/>
        </p:nvSpPr>
        <p:spPr>
          <a:xfrm>
            <a:off x="571500" y="476250"/>
            <a:ext cx="57300" cy="4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8" name="Google Shape;26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49648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67403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50680"/>
            <a:ext cx="133498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3475" y="1930600"/>
            <a:ext cx="89870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1"/>
          <p:cNvSpPr txBox="1"/>
          <p:nvPr/>
        </p:nvSpPr>
        <p:spPr>
          <a:xfrm>
            <a:off x="857250" y="1930602"/>
            <a:ext cx="50007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초기 단</a:t>
            </a:r>
            <a:r>
              <a:rPr b="1" lang="en-US" sz="13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계</a:t>
            </a:r>
            <a:r>
              <a:rPr b="1" i="0" lang="en-US" sz="13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:</a:t>
            </a:r>
            <a:r>
              <a:rPr b="0" i="0" lang="en-US" sz="13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OpenAI 연동, Assistant API 기반 에이전트 환경을 구축하고, 페르소나 최적화 및 Function Calling 연동을 위한 Web Search 등 Tools 모듈을 구현했습니다.</a:t>
            </a:r>
            <a:endParaRPr sz="135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857250" y="3440457"/>
            <a:ext cx="5000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중반</a:t>
            </a:r>
            <a:r>
              <a:rPr b="1" lang="en-US" sz="13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부</a:t>
            </a:r>
            <a:r>
              <a:rPr b="1" i="0" lang="en-US" sz="13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:</a:t>
            </a:r>
            <a:r>
              <a:rPr b="0" i="0" lang="en-US" sz="13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ML 모델을 FastAPI 기반 REST API로 서비스화하여 예측, 시뮬레이션, 배치 처리 기능을 구현했습니다.</a:t>
            </a:r>
            <a:endParaRPr sz="135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857250" y="4535505"/>
            <a:ext cx="50007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후반부</a:t>
            </a:r>
            <a:r>
              <a:rPr b="1" lang="en-US" sz="13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:</a:t>
            </a:r>
            <a:r>
              <a:rPr lang="en-US" sz="13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예측 모델 변경으로 인한 파라미터 구조 변화에 대응하여, API 병합을 위한 대규모 리팩토링을 수행했습니다. </a:t>
            </a:r>
            <a:endParaRPr sz="135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714375" y="476250"/>
            <a:ext cx="1145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4-4. 프로젝트 수행 경과 (</a:t>
            </a:r>
            <a:r>
              <a:rPr b="1" lang="en-US" sz="31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Open AI/에이전트</a:t>
            </a: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/>
          </a:p>
        </p:txBody>
      </p:sp>
      <p:sp>
        <p:nvSpPr>
          <p:cNvPr id="281" name="Google Shape;281;p21"/>
          <p:cNvSpPr/>
          <p:nvPr/>
        </p:nvSpPr>
        <p:spPr>
          <a:xfrm>
            <a:off x="571500" y="476250"/>
            <a:ext cx="57300" cy="4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2" name="Google Shape;28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49648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45144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655887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10200" y="1823150"/>
            <a:ext cx="5610298" cy="365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50" y="-3713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30598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2"/>
          <p:cNvSpPr txBox="1"/>
          <p:nvPr/>
        </p:nvSpPr>
        <p:spPr>
          <a:xfrm>
            <a:off x="857250" y="1930598"/>
            <a:ext cx="50007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초기 단계 (프론트):</a:t>
            </a:r>
            <a:r>
              <a:rPr b="0" i="0" lang="en-US" sz="13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Streamlit 기초 환경 설정 및 기본 UI 레이아웃을 구성했습니다. </a:t>
            </a:r>
            <a:r>
              <a:rPr lang="en-US" sz="135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tab을 세 개로 나누어 메인페이지, 통신사 관련된 정책 및 최신 보안 이슈 등을 제공해주는 두번째 페이지, 마지막으로 이탈 확률 시뮬레이션을 도와주는 세번째 페이지를 작성했습니다.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293" name="Google Shape;293;p22"/>
          <p:cNvSpPr txBox="1"/>
          <p:nvPr/>
        </p:nvSpPr>
        <p:spPr>
          <a:xfrm>
            <a:off x="822950" y="3380054"/>
            <a:ext cx="50007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중반부 (</a:t>
            </a:r>
            <a:r>
              <a:rPr b="1" lang="en-US" sz="13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기초 토대 완성 후 세부 기능들 추가</a:t>
            </a:r>
            <a:r>
              <a:rPr b="1" i="0" lang="en-US" sz="13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b="0" i="0" lang="en-US" sz="13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en-US" sz="135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모델 작업이 모두 끝나고 그에 맞춰 시나리오 빌더의 필요한 요소들을 구현하고 파일들을 한 데 모아 통합을 시도하였습니다.</a:t>
            </a:r>
            <a:endParaRPr sz="135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779050" y="4554280"/>
            <a:ext cx="50007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후반부 (최종 완성도 향상)</a:t>
            </a:r>
            <a:r>
              <a:rPr b="0" i="0" lang="en-US" sz="13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en-US" sz="135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파일의 개수가 많아서 경로 오류가 많이 나는 이슈가 있었지만 해결 후 정상적으로 통합을 완료했습니다. 여기서 tab2에 있는 웹서치 기능도 추가했습니다.</a:t>
            </a:r>
            <a:endParaRPr>
              <a:solidFill>
                <a:srgbClr val="434343"/>
              </a:solidFill>
            </a:endParaRPr>
          </a:p>
        </p:txBody>
      </p:sp>
      <p:pic>
        <p:nvPicPr>
          <p:cNvPr id="295" name="Google Shape;295;p22" title="화면 캡처 2026-03-30 224616.png"/>
          <p:cNvPicPr preferRelativeResize="0"/>
          <p:nvPr/>
        </p:nvPicPr>
        <p:blipFill rotWithShape="1">
          <a:blip r:embed="rId5">
            <a:alphaModFix/>
          </a:blip>
          <a:srcRect b="0" l="3712" r="3712" t="0"/>
          <a:stretch/>
        </p:blipFill>
        <p:spPr>
          <a:xfrm>
            <a:off x="6334125" y="1930598"/>
            <a:ext cx="5286375" cy="3810001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2"/>
          <p:cNvSpPr txBox="1"/>
          <p:nvPr/>
        </p:nvSpPr>
        <p:spPr>
          <a:xfrm>
            <a:off x="714375" y="476250"/>
            <a:ext cx="1145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4-5. 프로젝트 수행 경과 (</a:t>
            </a:r>
            <a:r>
              <a:rPr b="1" lang="en-US" sz="31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Streamlit UI/front</a:t>
            </a: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/>
          </a:p>
        </p:txBody>
      </p:sp>
      <p:sp>
        <p:nvSpPr>
          <p:cNvPr id="297" name="Google Shape;297;p22"/>
          <p:cNvSpPr/>
          <p:nvPr/>
        </p:nvSpPr>
        <p:spPr>
          <a:xfrm>
            <a:off x="571500" y="476250"/>
            <a:ext cx="57300" cy="4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8" name="Google Shape;29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49648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80038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58218"/>
            <a:ext cx="133498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50" y="-3713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30598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3"/>
          <p:cNvSpPr txBox="1"/>
          <p:nvPr/>
        </p:nvSpPr>
        <p:spPr>
          <a:xfrm>
            <a:off x="714375" y="476250"/>
            <a:ext cx="1145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4-</a:t>
            </a:r>
            <a:r>
              <a:rPr b="1" lang="en-US" sz="31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. 프로젝트 수행 경과 (</a:t>
            </a:r>
            <a:r>
              <a:rPr b="1" lang="en-US" sz="31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시연 영상</a:t>
            </a: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/>
          </a:p>
        </p:txBody>
      </p:sp>
      <p:sp>
        <p:nvSpPr>
          <p:cNvPr id="308" name="Google Shape;308;p23"/>
          <p:cNvSpPr/>
          <p:nvPr/>
        </p:nvSpPr>
        <p:spPr>
          <a:xfrm>
            <a:off x="571500" y="476250"/>
            <a:ext cx="57300" cy="4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23" title="시연영상.webm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45157" y="1101404"/>
            <a:ext cx="9101677" cy="5468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4" name="Google Shape;31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4"/>
          <p:cNvSpPr txBox="1"/>
          <p:nvPr/>
        </p:nvSpPr>
        <p:spPr>
          <a:xfrm>
            <a:off x="686889" y="3741625"/>
            <a:ext cx="555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rPr>
              <a:t>잘한 부분과 아쉬운 점</a:t>
            </a:r>
            <a:endParaRPr b="1" sz="2100"/>
          </a:p>
        </p:txBody>
      </p:sp>
      <p:sp>
        <p:nvSpPr>
          <p:cNvPr id="316" name="Google Shape;316;p24"/>
          <p:cNvSpPr txBox="1"/>
          <p:nvPr/>
        </p:nvSpPr>
        <p:spPr>
          <a:xfrm>
            <a:off x="686889" y="4209988"/>
            <a:ext cx="52863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데이터/ML/WebSearch/OpenAI/Streamlit 확실한 역할 분담을 주어서 개인의 역량을 높이고 한 분야의 집중도를 높여 협업 효율을 극대화할 수</a:t>
            </a:r>
            <a:r>
              <a:rPr lang="en-US" sz="12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있었습니다. 다만 팀 내에서 Git 숙련도가 미숙해 서로간의 코드 공유에 약간의 더딤이 있었습니다. 구글 드라이브를 병행해 사용하다 정비 후 Git으로 프로젝트를 진행했지만 “처음부터 함께 Git으로 진행했다면” 이라는 약간의 아쉬움이 있었습니다.</a:t>
            </a:r>
            <a:endParaRPr sz="125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7" name="Google Shape;317;p24"/>
          <p:cNvSpPr txBox="1"/>
          <p:nvPr/>
        </p:nvSpPr>
        <p:spPr>
          <a:xfrm>
            <a:off x="6350750" y="3741614"/>
            <a:ext cx="555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rPr>
              <a:t>느낀 점 및</a:t>
            </a:r>
            <a:r>
              <a:rPr b="1" lang="en-US" sz="2100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rPr>
              <a:t> 경험 성과</a:t>
            </a:r>
            <a:endParaRPr b="1" sz="2100"/>
          </a:p>
        </p:txBody>
      </p:sp>
      <p:sp>
        <p:nvSpPr>
          <p:cNvPr id="318" name="Google Shape;318;p24"/>
          <p:cNvSpPr txBox="1"/>
          <p:nvPr/>
        </p:nvSpPr>
        <p:spPr>
          <a:xfrm>
            <a:off x="6334088" y="4210006"/>
            <a:ext cx="5286300" cy="14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7명이라는 </a:t>
            </a:r>
            <a:r>
              <a:rPr lang="en-US" sz="12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다</a:t>
            </a:r>
            <a:r>
              <a:rPr b="0" i="0" lang="en-US" sz="12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인원이 모여 소통</a:t>
            </a:r>
            <a:r>
              <a:rPr lang="en-US" sz="12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과 협업의</a:t>
            </a:r>
            <a:r>
              <a:rPr b="0" i="0" lang="en-US" sz="12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중요성을 깨달았습니다. 기술적으로는 ML </a:t>
            </a:r>
            <a:r>
              <a:rPr lang="en-US" sz="12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모델과 LLM 에이전트 융합 구현 능력을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깊이 있게 학습하는 계기가 되었</a:t>
            </a:r>
            <a:r>
              <a:rPr lang="en-US" sz="12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고</a:t>
            </a:r>
            <a:r>
              <a:rPr b="0" i="0" lang="en-US" sz="12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무엇보다 </a:t>
            </a:r>
            <a:r>
              <a:rPr lang="en-US" sz="12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이슈를 공유하고 프로젝트 기획에 맞는 솔루션을 도출하여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함께 </a:t>
            </a:r>
            <a:r>
              <a:rPr lang="en-US" sz="12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의논하며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문제를 해결해 나</a:t>
            </a:r>
            <a:r>
              <a:rPr lang="en-US" sz="12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가서 개개인의 능력치를 올릴 수 있는</a:t>
            </a:r>
            <a:r>
              <a:rPr b="0" i="0" lang="en-US" sz="12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경험이 </a:t>
            </a:r>
            <a:r>
              <a:rPr lang="en-US" sz="12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되었던 것 같습니다.</a:t>
            </a:r>
            <a:endParaRPr sz="1300"/>
          </a:p>
        </p:txBody>
      </p:sp>
      <p:sp>
        <p:nvSpPr>
          <p:cNvPr id="319" name="Google Shape;319;p24"/>
          <p:cNvSpPr txBox="1"/>
          <p:nvPr/>
        </p:nvSpPr>
        <p:spPr>
          <a:xfrm>
            <a:off x="714375" y="476250"/>
            <a:ext cx="1145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5. 종합 자체 평가 의견 및 느낀 점</a:t>
            </a:r>
            <a:endParaRPr/>
          </a:p>
        </p:txBody>
      </p:sp>
      <p:sp>
        <p:nvSpPr>
          <p:cNvPr id="320" name="Google Shape;320;p24"/>
          <p:cNvSpPr/>
          <p:nvPr/>
        </p:nvSpPr>
        <p:spPr>
          <a:xfrm>
            <a:off x="571500" y="476250"/>
            <a:ext cx="57150" cy="47997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 txBox="1"/>
          <p:nvPr/>
        </p:nvSpPr>
        <p:spPr>
          <a:xfrm>
            <a:off x="686909" y="1693471"/>
            <a:ext cx="555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rPr>
              <a:t>완성도 평가</a:t>
            </a:r>
            <a:endParaRPr b="1" sz="2100"/>
          </a:p>
        </p:txBody>
      </p:sp>
      <p:sp>
        <p:nvSpPr>
          <p:cNvPr id="322" name="Google Shape;322;p24"/>
          <p:cNvSpPr txBox="1"/>
          <p:nvPr/>
        </p:nvSpPr>
        <p:spPr>
          <a:xfrm>
            <a:off x="686900" y="2181425"/>
            <a:ext cx="52863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초기에 의도했던 '</a:t>
            </a:r>
            <a:r>
              <a:rPr lang="en-US" sz="12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이탈율 예측 및 선제 방지 대책 제공 챗봇</a:t>
            </a:r>
            <a:r>
              <a:rPr b="0" i="0" lang="en-US" sz="12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'의 모습을 구현했습니다. </a:t>
            </a:r>
            <a:r>
              <a:rPr lang="en-US" sz="12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이탈율 감소를 위한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업무 트래킹 도구로 사용</a:t>
            </a:r>
            <a:r>
              <a:rPr lang="en-US" sz="12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하여 관리자에게 실행 가능한 마케팅 사이트를 제공할 수 있습니다.</a:t>
            </a:r>
            <a:endParaRPr sz="1300"/>
          </a:p>
        </p:txBody>
      </p:sp>
      <p:sp>
        <p:nvSpPr>
          <p:cNvPr id="323" name="Google Shape;323;p24"/>
          <p:cNvSpPr txBox="1"/>
          <p:nvPr/>
        </p:nvSpPr>
        <p:spPr>
          <a:xfrm>
            <a:off x="6201934" y="1602282"/>
            <a:ext cx="555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rPr>
              <a:t>추후 개선/보완점</a:t>
            </a:r>
            <a:endParaRPr b="1" sz="2100"/>
          </a:p>
        </p:txBody>
      </p:sp>
      <p:sp>
        <p:nvSpPr>
          <p:cNvPr id="324" name="Google Shape;324;p24"/>
          <p:cNvSpPr txBox="1"/>
          <p:nvPr/>
        </p:nvSpPr>
        <p:spPr>
          <a:xfrm>
            <a:off x="6334100" y="2040538"/>
            <a:ext cx="5699400" cy="14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</a:t>
            </a:r>
            <a:r>
              <a:rPr lang="en-US" sz="12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CSV 기반 예측을 중심으로 구현되었는데, 추후 폼과 같은 입력 방식을 통해 단일 고객에 대한 예측도 수행이 가능하도록 개선할 부분이 있습니다. </a:t>
            </a:r>
            <a:r>
              <a:rPr lang="en-US" sz="12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File search 기</a:t>
            </a:r>
            <a:r>
              <a:rPr lang="en-US" sz="12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능 미구현, </a:t>
            </a:r>
            <a:r>
              <a:rPr lang="en-US" sz="12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시나리오 </a:t>
            </a:r>
            <a:r>
              <a:rPr lang="en-US" sz="12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빌더</a:t>
            </a:r>
            <a:r>
              <a:rPr lang="en-US" sz="12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창 + 에이전트 결합 기능을 구현할 예정이였지만 시간 문제로 진행하지 못했</a:t>
            </a:r>
            <a:r>
              <a:rPr lang="en-US" sz="125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고 혜택 프로모션 부분에서 ‘구독 서비스’ 같은 추가적인 항목이 있어야 하는데 ‘월 요금 할인 혜택 ‘기능만 넣은 것에 아쉬움이 있습니다.</a:t>
            </a:r>
            <a:endParaRPr sz="125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9" name="Google Shape;3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5"/>
          <p:cNvSpPr txBox="1"/>
          <p:nvPr/>
        </p:nvSpPr>
        <p:spPr>
          <a:xfrm>
            <a:off x="3615537" y="2039391"/>
            <a:ext cx="4960776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Q &amp; A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3733651" y="3144291"/>
            <a:ext cx="4724548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발표를 경청해 주셔서 감사합니다.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궁금하신 점이 있다면 질문해 주시기 바랍니다.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1117</ep:Words>
  <ep:PresentationFormat/>
  <ep:Paragraphs>133</ep:Paragraphs>
  <ep:Slides>13</ep:Slides>
  <ep:Notes>13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ep:HeadingPairs>
  <ep:TitlesOfParts>
    <vt:vector size="14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qhott</cp:lastModifiedBy>
  <dcterms:modified xsi:type="dcterms:W3CDTF">2026-03-31T00:45:14.338</dcterms:modified>
  <cp:revision>1</cp:revision>
  <cp:version/>
</cp:coreProperties>
</file>